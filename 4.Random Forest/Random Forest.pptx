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7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6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71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8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3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1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5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6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5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1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5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EC316-5F42-42CC-AF0B-A7693B19F197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3EF2E-BC32-4F8D-918A-E66DCE61E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5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914400" y="2667000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Castellar" pitchFamily="18" charset="0"/>
              </a:rPr>
              <a:t>Random Forest</a:t>
            </a:r>
            <a:endParaRPr lang="en-US" dirty="0">
              <a:solidFill>
                <a:schemeClr val="bg1"/>
              </a:solidFill>
              <a:latin typeface="Castellar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83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RANDOM Forest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Kind of like KNN</a:t>
            </a:r>
          </a:p>
          <a:p>
            <a:r>
              <a:rPr lang="en-US" dirty="0" smtClean="0"/>
              <a:t>“Weak learners” (singles) come together to form the “Strong learner”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71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RANDOM Forest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1"/>
            <a:ext cx="4191000" cy="4495800"/>
          </a:xfrm>
          <a:solidFill>
            <a:srgbClr val="D7E4BD">
              <a:alpha val="61961"/>
            </a:srgbClr>
          </a:solidFill>
        </p:spPr>
        <p:txBody>
          <a:bodyPr/>
          <a:lstStyle/>
          <a:p>
            <a:endParaRPr lang="en-US" dirty="0" smtClean="0"/>
          </a:p>
          <a:p>
            <a:r>
              <a:rPr lang="en-US" dirty="0" smtClean="0">
                <a:solidFill>
                  <a:schemeClr val="accent1"/>
                </a:solidFill>
              </a:rPr>
              <a:t>Blue</a:t>
            </a:r>
            <a:r>
              <a:rPr lang="en-US" dirty="0" smtClean="0"/>
              <a:t> Circles </a:t>
            </a:r>
            <a:r>
              <a:rPr lang="en-US" dirty="0" smtClean="0">
                <a:sym typeface="Wingdings" pitchFamily="2" charset="2"/>
              </a:rPr>
              <a:t>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1"/>
                </a:solidFill>
              </a:rPr>
              <a:t>Data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Gray</a:t>
            </a:r>
            <a:r>
              <a:rPr lang="en-US" dirty="0" smtClean="0"/>
              <a:t> Curves 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Weak Learners</a:t>
            </a:r>
          </a:p>
          <a:p>
            <a:r>
              <a:rPr lang="en-US" dirty="0" smtClean="0">
                <a:solidFill>
                  <a:srgbClr val="C00000"/>
                </a:solidFill>
                <a:sym typeface="Wingdings" pitchFamily="2" charset="2"/>
              </a:rPr>
              <a:t>Red</a:t>
            </a:r>
            <a:r>
              <a:rPr lang="en-US" dirty="0" smtClean="0">
                <a:sym typeface="Wingdings" pitchFamily="2" charset="2"/>
              </a:rPr>
              <a:t> Curve </a:t>
            </a:r>
            <a:r>
              <a:rPr lang="en-US" dirty="0" smtClean="0">
                <a:solidFill>
                  <a:srgbClr val="C00000"/>
                </a:solidFill>
                <a:sym typeface="Wingdings" pitchFamily="2" charset="2"/>
              </a:rPr>
              <a:t>Strong Learner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899" y="1600200"/>
            <a:ext cx="5086042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7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RANDOM Forest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Algorithm: Decision Tree (@</a:t>
            </a:r>
            <a:r>
              <a:rPr lang="en-US" dirty="0" err="1" smtClean="0"/>
              <a:t>ClassicML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13919"/>
            <a:ext cx="6124575" cy="4455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432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RANDOM Forest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Random FOREST combines the TREES into a FOREST</a:t>
            </a:r>
          </a:p>
          <a:p>
            <a:pPr lvl="1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Tree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itchFamily="2" charset="2"/>
              </a:rPr>
              <a:t> Weak Learner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sym typeface="Wingdings" pitchFamily="2" charset="2"/>
              </a:rPr>
              <a:t>Random Forest  Strong Learner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3074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79" y="4191000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33800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815" y="3962400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152" y="4386134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732" y="3657600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315082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536" y="3657600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97" y="3731226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64" y="4383044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Admin\AppData\Local\Microsoft\Windows\Temporary Internet Files\Content.IE5\QFSPTX42\tree2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556" y="4429382"/>
            <a:ext cx="2256136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89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7E4BD">
              <a:alpha val="61961"/>
            </a:srgbClr>
          </a:solidFill>
        </p:spPr>
        <p:txBody>
          <a:bodyPr>
            <a:normAutofit/>
          </a:bodyPr>
          <a:lstStyle/>
          <a:p>
            <a:r>
              <a:rPr lang="en-US" sz="3600" dirty="0" smtClean="0"/>
              <a:t>RANDOM Forest: Training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Sample </a:t>
            </a:r>
            <a:r>
              <a:rPr lang="en-US" i="1" dirty="0" smtClean="0"/>
              <a:t>N</a:t>
            </a:r>
            <a:r>
              <a:rPr lang="en-US" dirty="0" smtClean="0"/>
              <a:t> cases at random with replacement to create a subset of the data.</a:t>
            </a:r>
          </a:p>
          <a:p>
            <a:r>
              <a:rPr lang="en-US" dirty="0" smtClean="0"/>
              <a:t>At each node:</a:t>
            </a:r>
          </a:p>
          <a:p>
            <a:pPr lvl="1"/>
            <a:r>
              <a:rPr lang="en-US" i="1" dirty="0" smtClean="0"/>
              <a:t>m</a:t>
            </a:r>
            <a:r>
              <a:rPr lang="en-US" dirty="0" smtClean="0"/>
              <a:t> predictor variables are selected at random from all the predictor variables</a:t>
            </a:r>
          </a:p>
          <a:p>
            <a:pPr lvl="1"/>
            <a:r>
              <a:rPr lang="en-US" dirty="0" smtClean="0"/>
              <a:t>Predictor variable with the best split makes a binary split on that node</a:t>
            </a:r>
          </a:p>
          <a:p>
            <a:pPr lvl="1"/>
            <a:r>
              <a:rPr lang="en-US" dirty="0" smtClean="0"/>
              <a:t>Next Node: Repeat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5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7E4BD">
              <a:alpha val="61961"/>
            </a:srgbClr>
          </a:solidFill>
        </p:spPr>
        <p:txBody>
          <a:bodyPr>
            <a:normAutofit/>
          </a:bodyPr>
          <a:lstStyle/>
          <a:p>
            <a:r>
              <a:rPr lang="en-US" sz="3600" dirty="0" smtClean="0"/>
              <a:t>Example: San Francisco Police Department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  <a:solidFill>
            <a:srgbClr val="D7E4BD">
              <a:alpha val="61961"/>
            </a:srgbClr>
          </a:solidFill>
        </p:spPr>
        <p:txBody>
          <a:bodyPr/>
          <a:lstStyle/>
          <a:p>
            <a:r>
              <a:rPr lang="en-US" dirty="0" smtClean="0"/>
              <a:t>Data: crime reports</a:t>
            </a:r>
          </a:p>
          <a:p>
            <a:r>
              <a:rPr lang="en-US" dirty="0" smtClean="0"/>
              <a:t>Predictor Variables: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19400"/>
            <a:ext cx="8216347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903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D7E4BD">
              <a:alpha val="61961"/>
            </a:srgbClr>
          </a:solidFill>
        </p:spPr>
        <p:txBody>
          <a:bodyPr>
            <a:normAutofit/>
          </a:bodyPr>
          <a:lstStyle/>
          <a:p>
            <a:r>
              <a:rPr lang="en-US" sz="3600" dirty="0" smtClean="0"/>
              <a:t>RANDOM Forest: Strength/Weaknesses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  <a:solidFill>
            <a:srgbClr val="D7E4BD">
              <a:alpha val="61961"/>
            </a:srgb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STRENGTHS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Fast runtimes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Deal with unbalanced and missing data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48200" y="1600200"/>
            <a:ext cx="4038600" cy="4525963"/>
          </a:xfrm>
          <a:prstGeom prst="rect">
            <a:avLst/>
          </a:prstGeom>
          <a:solidFill>
            <a:srgbClr val="D7E4BD">
              <a:alpha val="61961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smtClean="0"/>
              <a:t>WEAKNESSES</a:t>
            </a:r>
          </a:p>
          <a:p>
            <a:pPr algn="ctr"/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May over-fit noisy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4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151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Random Forest</vt:lpstr>
      <vt:lpstr>RANDOM Forest</vt:lpstr>
      <vt:lpstr>RANDOM Forest</vt:lpstr>
      <vt:lpstr>RANDOM Forest</vt:lpstr>
      <vt:lpstr>RANDOM Forest</vt:lpstr>
      <vt:lpstr>RANDOM Forest: Training</vt:lpstr>
      <vt:lpstr>Example: San Francisco Police Department</vt:lpstr>
      <vt:lpstr>RANDOM Forest: Strength/Weaknesses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creator>Admin</dc:creator>
  <cp:lastModifiedBy>Admin</cp:lastModifiedBy>
  <cp:revision>3</cp:revision>
  <dcterms:created xsi:type="dcterms:W3CDTF">2017-06-12T02:10:53Z</dcterms:created>
  <dcterms:modified xsi:type="dcterms:W3CDTF">2017-06-12T02:35:45Z</dcterms:modified>
</cp:coreProperties>
</file>