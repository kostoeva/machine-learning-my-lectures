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3" r:id="rId4"/>
    <p:sldId id="258" r:id="rId5"/>
    <p:sldId id="259" r:id="rId6"/>
    <p:sldId id="261" r:id="rId7"/>
    <p:sldId id="262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A5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582" y="-10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7581E-E3CE-442F-B9DE-D1A9B844F016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77B4-21A1-4150-97A7-66F10D06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7581E-E3CE-442F-B9DE-D1A9B844F016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77B4-21A1-4150-97A7-66F10D06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7581E-E3CE-442F-B9DE-D1A9B844F016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77B4-21A1-4150-97A7-66F10D06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7581E-E3CE-442F-B9DE-D1A9B844F016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77B4-21A1-4150-97A7-66F10D06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7581E-E3CE-442F-B9DE-D1A9B844F016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77B4-21A1-4150-97A7-66F10D06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7581E-E3CE-442F-B9DE-D1A9B844F016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77B4-21A1-4150-97A7-66F10D06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7581E-E3CE-442F-B9DE-D1A9B844F016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77B4-21A1-4150-97A7-66F10D06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7581E-E3CE-442F-B9DE-D1A9B844F016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77B4-21A1-4150-97A7-66F10D06EF8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7581E-E3CE-442F-B9DE-D1A9B844F016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2A77B4-21A1-4150-97A7-66F10D06EF8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7581E-E3CE-442F-B9DE-D1A9B844F016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77B4-21A1-4150-97A7-66F10D06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7581E-E3CE-442F-B9DE-D1A9B844F016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77B4-21A1-4150-97A7-66F10D06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A62A77B4-21A1-4150-97A7-66F10D06EF8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7E7581E-E3CE-442F-B9DE-D1A9B844F016}" type="datetimeFigureOut">
              <a:rPr lang="en-US" smtClean="0"/>
              <a:t>6/11/2017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00200" y="18393"/>
            <a:ext cx="12224697" cy="6876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0" y="1828800"/>
            <a:ext cx="7772400" cy="1470025"/>
          </a:xfrm>
        </p:spPr>
        <p:txBody>
          <a:bodyPr>
            <a:noAutofit/>
          </a:bodyPr>
          <a:lstStyle/>
          <a:p>
            <a:r>
              <a:rPr lang="en-US" sz="6600" b="1" dirty="0" smtClean="0">
                <a:solidFill>
                  <a:schemeClr val="bg1"/>
                </a:solidFill>
                <a:latin typeface="Forte" pitchFamily="66" charset="0"/>
              </a:rPr>
              <a:t>Decision </a:t>
            </a:r>
            <a:br>
              <a:rPr lang="en-US" sz="6600" b="1" dirty="0" smtClean="0">
                <a:solidFill>
                  <a:schemeClr val="bg1"/>
                </a:solidFill>
                <a:latin typeface="Forte" pitchFamily="66" charset="0"/>
              </a:rPr>
            </a:br>
            <a:r>
              <a:rPr lang="en-US" sz="6600" b="1" dirty="0" smtClean="0">
                <a:solidFill>
                  <a:schemeClr val="bg1"/>
                </a:solidFill>
                <a:latin typeface="Forte" pitchFamily="66" charset="0"/>
              </a:rPr>
              <a:t>Tree </a:t>
            </a:r>
            <a:br>
              <a:rPr lang="en-US" sz="6600" b="1" dirty="0" smtClean="0">
                <a:solidFill>
                  <a:schemeClr val="bg1"/>
                </a:solidFill>
                <a:latin typeface="Forte" pitchFamily="66" charset="0"/>
              </a:rPr>
            </a:br>
            <a:r>
              <a:rPr lang="en-US" sz="6600" b="1" dirty="0" smtClean="0">
                <a:solidFill>
                  <a:schemeClr val="bg1"/>
                </a:solidFill>
                <a:latin typeface="Forte" pitchFamily="66" charset="0"/>
              </a:rPr>
              <a:t>Classifier</a:t>
            </a:r>
            <a:endParaRPr lang="en-US" sz="6600" b="1" dirty="0">
              <a:solidFill>
                <a:schemeClr val="bg1"/>
              </a:solidFill>
              <a:latin typeface="Forte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046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55"/>
            <a:ext cx="7620000" cy="419045"/>
          </a:xfrm>
        </p:spPr>
        <p:txBody>
          <a:bodyPr/>
          <a:lstStyle/>
          <a:p>
            <a:r>
              <a:rPr lang="en-US" dirty="0" smtClean="0"/>
              <a:t>EX: Fitting a SINE curve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93683"/>
            <a:ext cx="8229600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8271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1143000"/>
          </a:xfrm>
        </p:spPr>
        <p:txBody>
          <a:bodyPr/>
          <a:lstStyle/>
          <a:p>
            <a:r>
              <a:rPr lang="en-US" dirty="0" smtClean="0"/>
              <a:t>Decisions, Decisions, Decisions…</a:t>
            </a:r>
            <a:endParaRPr lang="en-US" dirty="0"/>
          </a:p>
        </p:txBody>
      </p:sp>
      <p:pic>
        <p:nvPicPr>
          <p:cNvPr id="2050" name="Picture 2" descr="Buys computer?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09800"/>
            <a:ext cx="6563019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68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Breakdown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6000" dirty="0" smtClean="0">
                <a:solidFill>
                  <a:schemeClr val="accent2">
                    <a:lumMod val="75000"/>
                  </a:schemeClr>
                </a:solidFill>
              </a:rPr>
              <a:t>TREE INDUCTION</a:t>
            </a:r>
          </a:p>
          <a:p>
            <a:pPr marL="114300" indent="0" algn="ctr">
              <a:buNone/>
            </a:pPr>
            <a:endParaRPr lang="en-US" sz="60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114300" indent="0" algn="ctr">
              <a:buNone/>
            </a:pPr>
            <a:endParaRPr lang="en-US" sz="6000" dirty="0">
              <a:solidFill>
                <a:schemeClr val="accent2">
                  <a:lumMod val="75000"/>
                </a:schemeClr>
              </a:solidFill>
            </a:endParaRPr>
          </a:p>
          <a:p>
            <a:pPr marL="114300" indent="0" algn="ctr">
              <a:buNone/>
            </a:pPr>
            <a:r>
              <a:rPr lang="en-US" sz="6000" dirty="0" smtClean="0">
                <a:solidFill>
                  <a:schemeClr val="accent2">
                    <a:lumMod val="75000"/>
                  </a:schemeClr>
                </a:solidFill>
              </a:rPr>
              <a:t>TREE PRUNING</a:t>
            </a:r>
            <a:endParaRPr lang="en-US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Cross 3"/>
          <p:cNvSpPr/>
          <p:nvPr/>
        </p:nvSpPr>
        <p:spPr>
          <a:xfrm>
            <a:off x="3808686" y="3048000"/>
            <a:ext cx="1143000" cy="1219200"/>
          </a:xfrm>
          <a:prstGeom prst="plus">
            <a:avLst>
              <a:gd name="adj" fmla="val 346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21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620000" cy="1143000"/>
          </a:xfrm>
        </p:spPr>
        <p:txBody>
          <a:bodyPr/>
          <a:lstStyle/>
          <a:p>
            <a:r>
              <a:rPr lang="en-US" dirty="0" smtClean="0"/>
              <a:t>Tree Induction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7620000" cy="5562600"/>
          </a:xfrm>
        </p:spPr>
        <p:txBody>
          <a:bodyPr>
            <a:noAutofit/>
          </a:bodyPr>
          <a:lstStyle/>
          <a:p>
            <a:pPr marL="571500" indent="-457200">
              <a:buFont typeface="+mj-lt"/>
              <a:buAutoNum type="arabicPeriod"/>
            </a:pPr>
            <a:r>
              <a:rPr lang="en-US" sz="3600" dirty="0" smtClean="0"/>
              <a:t>Take a set of pre-classified instances as inputs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3600" dirty="0" smtClean="0"/>
              <a:t>Decide which attributes are best to split on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3600" dirty="0" smtClean="0"/>
              <a:t>Split the dataset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3600" dirty="0" smtClean="0"/>
              <a:t>Recurse on the resulting split datasets until all training instances are categorized – (includes pruning: removing unnecessary structures to prevent over-fitting)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0947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uys computer?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85800"/>
            <a:ext cx="80772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Lightning Bolt 4"/>
          <p:cNvSpPr/>
          <p:nvPr/>
        </p:nvSpPr>
        <p:spPr>
          <a:xfrm>
            <a:off x="102476" y="0"/>
            <a:ext cx="1954924" cy="21336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 rot="3284368">
            <a:off x="76865" y="753786"/>
            <a:ext cx="1939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Splitting Attributes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3628697" y="835385"/>
            <a:ext cx="1143000" cy="1074897"/>
          </a:xfrm>
          <a:prstGeom prst="ellipse">
            <a:avLst/>
          </a:prstGeom>
          <a:solidFill>
            <a:srgbClr val="A9A57C">
              <a:alpha val="7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600200" y="2819400"/>
            <a:ext cx="1143000" cy="1074897"/>
          </a:xfrm>
          <a:prstGeom prst="ellipse">
            <a:avLst/>
          </a:prstGeom>
          <a:solidFill>
            <a:srgbClr val="A9A57C">
              <a:alpha val="7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334000" y="2819400"/>
            <a:ext cx="2057400" cy="1074897"/>
          </a:xfrm>
          <a:prstGeom prst="ellipse">
            <a:avLst/>
          </a:prstGeom>
          <a:solidFill>
            <a:srgbClr val="A9A57C">
              <a:alpha val="7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0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– Training Set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5382028"/>
              </p:ext>
            </p:extLst>
          </p:nvPr>
        </p:nvGraphicFramePr>
        <p:xfrm>
          <a:off x="228600" y="1318260"/>
          <a:ext cx="8077200" cy="5234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112520"/>
                <a:gridCol w="1981200"/>
                <a:gridCol w="1752600"/>
              </a:tblGrid>
              <a:tr h="64770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Individual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Age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Student?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Credit</a:t>
                      </a:r>
                      <a:r>
                        <a:rPr lang="en-US" sz="2000" baseline="0" dirty="0" smtClean="0"/>
                        <a:t> Rating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Buys Computer?</a:t>
                      </a:r>
                      <a:endParaRPr lang="en-US" sz="2000" dirty="0"/>
                    </a:p>
                  </a:txBody>
                  <a:tcPr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Bruce Wayne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Middle</a:t>
                      </a:r>
                      <a:r>
                        <a:rPr lang="en-US" sz="2000" baseline="0" dirty="0" smtClean="0"/>
                        <a:t> Aged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Does</a:t>
                      </a:r>
                      <a:r>
                        <a:rPr lang="en-US" sz="2000" baseline="0" dirty="0" smtClean="0"/>
                        <a:t> Not Need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Yes</a:t>
                      </a:r>
                      <a:endParaRPr lang="en-US" sz="2000" dirty="0"/>
                    </a:p>
                  </a:txBody>
                  <a:tcPr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Steve Rogers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Youth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</a:t>
                      </a:r>
                      <a:endParaRPr lang="en-US" sz="2000" dirty="0"/>
                    </a:p>
                  </a:txBody>
                  <a:tcPr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James Barnes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Youth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</a:t>
                      </a:r>
                      <a:endParaRPr lang="en-US" sz="2000" dirty="0"/>
                    </a:p>
                  </a:txBody>
                  <a:tcPr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Tony</a:t>
                      </a:r>
                      <a:r>
                        <a:rPr lang="en-US" sz="2000" baseline="0" dirty="0" smtClean="0"/>
                        <a:t> Stark</a:t>
                      </a:r>
                      <a:endParaRPr lang="en-US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Middle</a:t>
                      </a:r>
                      <a:r>
                        <a:rPr lang="en-US" sz="2000" baseline="0" dirty="0" smtClean="0"/>
                        <a:t> Aged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Does</a:t>
                      </a:r>
                      <a:r>
                        <a:rPr lang="en-US" sz="2000" baseline="0" dirty="0" smtClean="0"/>
                        <a:t> Not Need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Yes</a:t>
                      </a:r>
                    </a:p>
                  </a:txBody>
                  <a:tcPr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Peter Parker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Youth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Yes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Yes</a:t>
                      </a:r>
                    </a:p>
                  </a:txBody>
                  <a:tcPr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THE</a:t>
                      </a:r>
                      <a:r>
                        <a:rPr lang="en-US" sz="2000" baseline="0" dirty="0" smtClean="0"/>
                        <a:t> Alfred</a:t>
                      </a:r>
                      <a:endParaRPr lang="en-US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Senior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Excellent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Yes</a:t>
                      </a:r>
                    </a:p>
                  </a:txBody>
                  <a:tcPr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Some Guy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Senior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Fair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348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1143000"/>
          </a:xfrm>
        </p:spPr>
        <p:txBody>
          <a:bodyPr/>
          <a:lstStyle/>
          <a:p>
            <a:r>
              <a:rPr lang="en-US" dirty="0" smtClean="0"/>
              <a:t>Construct the Tree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69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– Test Set</a:t>
            </a:r>
            <a:endParaRPr lang="en-US" dirty="0"/>
          </a:p>
        </p:txBody>
      </p:sp>
      <p:graphicFrame>
        <p:nvGraphicFramePr>
          <p:cNvPr id="6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247521"/>
              </p:ext>
            </p:extLst>
          </p:nvPr>
        </p:nvGraphicFramePr>
        <p:xfrm>
          <a:off x="228600" y="1447800"/>
          <a:ext cx="8077200" cy="5082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112520"/>
                <a:gridCol w="1981200"/>
                <a:gridCol w="1752600"/>
              </a:tblGrid>
              <a:tr h="892354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Individual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Age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Student?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Credit</a:t>
                      </a:r>
                      <a:r>
                        <a:rPr lang="en-US" sz="2000" baseline="0" dirty="0" smtClean="0"/>
                        <a:t> Rating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Buys Computer?</a:t>
                      </a:r>
                      <a:endParaRPr lang="en-US" sz="2000" dirty="0"/>
                    </a:p>
                  </a:txBody>
                  <a:tcPr/>
                </a:tc>
              </a:tr>
              <a:tr h="82445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Superman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Middle</a:t>
                      </a:r>
                      <a:r>
                        <a:rPr lang="en-US" sz="2000" baseline="0" dirty="0" smtClean="0"/>
                        <a:t> Aged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?</a:t>
                      </a:r>
                      <a:endParaRPr lang="en-US" sz="2000" dirty="0"/>
                    </a:p>
                  </a:txBody>
                  <a:tcPr/>
                </a:tc>
              </a:tr>
              <a:tr h="892354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Natasha</a:t>
                      </a:r>
                      <a:r>
                        <a:rPr lang="en-US" sz="2000" baseline="0" dirty="0" smtClean="0"/>
                        <a:t> Romanoff</a:t>
                      </a:r>
                      <a:endParaRPr lang="en-US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Youth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?</a:t>
                      </a:r>
                      <a:endParaRPr lang="en-US" sz="2000" dirty="0"/>
                    </a:p>
                  </a:txBody>
                  <a:tcPr/>
                </a:tc>
              </a:tr>
              <a:tr h="824458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Rando</a:t>
                      </a:r>
                      <a:r>
                        <a:rPr lang="en-US" sz="2000" dirty="0" smtClean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Middle</a:t>
                      </a:r>
                      <a:r>
                        <a:rPr lang="en-US" sz="2000" baseline="0" dirty="0" smtClean="0"/>
                        <a:t> Aged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?</a:t>
                      </a:r>
                      <a:endParaRPr lang="en-US" sz="2000" dirty="0"/>
                    </a:p>
                  </a:txBody>
                  <a:tcPr/>
                </a:tc>
              </a:tr>
              <a:tr h="824458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Rando</a:t>
                      </a:r>
                      <a:r>
                        <a:rPr lang="en-US" sz="2000" dirty="0" smtClean="0"/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Youth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Yes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?</a:t>
                      </a:r>
                    </a:p>
                  </a:txBody>
                  <a:tcPr/>
                </a:tc>
              </a:tr>
              <a:tr h="824458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Rando</a:t>
                      </a:r>
                      <a:r>
                        <a:rPr lang="en-US" sz="2000" dirty="0" smtClean="0"/>
                        <a:t>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Senior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Fair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?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118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Our Accuracy…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4919746"/>
              </p:ext>
            </p:extLst>
          </p:nvPr>
        </p:nvGraphicFramePr>
        <p:xfrm>
          <a:off x="228600" y="1447800"/>
          <a:ext cx="8077200" cy="5082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112520"/>
                <a:gridCol w="1981200"/>
                <a:gridCol w="1752600"/>
              </a:tblGrid>
              <a:tr h="892354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Individual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Age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Student?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Credit</a:t>
                      </a:r>
                      <a:r>
                        <a:rPr lang="en-US" sz="2000" baseline="0" dirty="0" smtClean="0"/>
                        <a:t> Rating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Buys Computer?</a:t>
                      </a:r>
                      <a:endParaRPr lang="en-US" sz="2000" dirty="0"/>
                    </a:p>
                  </a:txBody>
                  <a:tcPr/>
                </a:tc>
              </a:tr>
              <a:tr h="82445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Superman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Middle</a:t>
                      </a:r>
                      <a:r>
                        <a:rPr lang="en-US" sz="2000" baseline="0" dirty="0" smtClean="0"/>
                        <a:t> Aged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Yes</a:t>
                      </a:r>
                      <a:endParaRPr lang="en-US" sz="2000" dirty="0"/>
                    </a:p>
                  </a:txBody>
                  <a:tcPr/>
                </a:tc>
              </a:tr>
              <a:tr h="892354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Natasha</a:t>
                      </a:r>
                      <a:r>
                        <a:rPr lang="en-US" sz="2000" baseline="0" dirty="0" smtClean="0"/>
                        <a:t> Romanoff</a:t>
                      </a:r>
                      <a:endParaRPr lang="en-US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Youth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</a:t>
                      </a:r>
                      <a:endParaRPr lang="en-US" sz="2000" dirty="0"/>
                    </a:p>
                  </a:txBody>
                  <a:tcPr/>
                </a:tc>
              </a:tr>
              <a:tr h="824458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Rando</a:t>
                      </a:r>
                      <a:r>
                        <a:rPr lang="en-US" sz="2000" dirty="0" smtClean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Middle</a:t>
                      </a:r>
                      <a:r>
                        <a:rPr lang="en-US" sz="2000" baseline="0" dirty="0" smtClean="0"/>
                        <a:t> Aged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Yes</a:t>
                      </a:r>
                      <a:endParaRPr lang="en-US" sz="2000" dirty="0"/>
                    </a:p>
                  </a:txBody>
                  <a:tcPr/>
                </a:tc>
              </a:tr>
              <a:tr h="824458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Rando</a:t>
                      </a:r>
                      <a:r>
                        <a:rPr lang="en-US" sz="2000" dirty="0" smtClean="0"/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Youth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Yes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Yes</a:t>
                      </a:r>
                    </a:p>
                  </a:txBody>
                  <a:tcPr/>
                </a:tc>
              </a:tr>
              <a:tr h="824458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Rando</a:t>
                      </a:r>
                      <a:r>
                        <a:rPr lang="en-US" sz="2000" dirty="0" smtClean="0"/>
                        <a:t>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Senior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N/A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Fair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99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30</TotalTime>
  <Words>218</Words>
  <Application>Microsoft Office PowerPoint</Application>
  <PresentationFormat>On-screen Show (4:3)</PresentationFormat>
  <Paragraphs>118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Adjacency</vt:lpstr>
      <vt:lpstr>Decision  Tree  Classifier</vt:lpstr>
      <vt:lpstr>EX: Fitting a SINE curve</vt:lpstr>
      <vt:lpstr>Decisions, Decisions, Decisions…</vt:lpstr>
      <vt:lpstr>Algorithm Breakdown</vt:lpstr>
      <vt:lpstr>Tree Induction</vt:lpstr>
      <vt:lpstr>PowerPoint Presentation</vt:lpstr>
      <vt:lpstr>Dataset – Training Set</vt:lpstr>
      <vt:lpstr>Construct the Tree</vt:lpstr>
      <vt:lpstr>Dataset – Test Set</vt:lpstr>
      <vt:lpstr>Testing Our Accuracy…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 Tree  Classifier</dc:title>
  <dc:creator>Admin</dc:creator>
  <cp:lastModifiedBy>Admin</cp:lastModifiedBy>
  <cp:revision>4</cp:revision>
  <dcterms:created xsi:type="dcterms:W3CDTF">2017-06-12T02:36:35Z</dcterms:created>
  <dcterms:modified xsi:type="dcterms:W3CDTF">2017-06-12T03:07:01Z</dcterms:modified>
</cp:coreProperties>
</file>