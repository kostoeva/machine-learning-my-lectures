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661"/>
    <a:srgbClr val="CC9900"/>
    <a:srgbClr val="EEB000"/>
    <a:srgbClr val="D1CBAF"/>
    <a:srgbClr val="CDBFA3"/>
    <a:srgbClr val="E2A700"/>
    <a:srgbClr val="FBE437"/>
    <a:srgbClr val="E4B24E"/>
    <a:srgbClr val="FFC41D"/>
    <a:srgbClr val="1C4D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312" y="-9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9BD5-D910-447E-8AC1-FCF9BA453CE4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6C4C-5581-43A2-83C2-A9187781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7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9BD5-D910-447E-8AC1-FCF9BA453CE4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6C4C-5581-43A2-83C2-A9187781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21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9BD5-D910-447E-8AC1-FCF9BA453CE4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6C4C-5581-43A2-83C2-A9187781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95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9BD5-D910-447E-8AC1-FCF9BA453CE4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6C4C-5581-43A2-83C2-A9187781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16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9BD5-D910-447E-8AC1-FCF9BA453CE4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6C4C-5581-43A2-83C2-A9187781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61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9BD5-D910-447E-8AC1-FCF9BA453CE4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6C4C-5581-43A2-83C2-A9187781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44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9BD5-D910-447E-8AC1-FCF9BA453CE4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6C4C-5581-43A2-83C2-A9187781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9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9BD5-D910-447E-8AC1-FCF9BA453CE4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6C4C-5581-43A2-83C2-A9187781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97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9BD5-D910-447E-8AC1-FCF9BA453CE4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6C4C-5581-43A2-83C2-A9187781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18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9BD5-D910-447E-8AC1-FCF9BA453CE4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6C4C-5581-43A2-83C2-A9187781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7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9BD5-D910-447E-8AC1-FCF9BA453CE4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6C4C-5581-43A2-83C2-A9187781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4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D5A">
            <a:alpha val="9176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F9BD5-D910-447E-8AC1-FCF9BA453CE4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B6C4C-5581-43A2-83C2-A9187781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25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0"/>
            <a:ext cx="51435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0386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3886200"/>
            <a:ext cx="5943600" cy="3120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848600" y="0"/>
            <a:ext cx="1295400" cy="5509200"/>
          </a:xfrm>
          <a:prstGeom prst="rect">
            <a:avLst/>
          </a:prstGeom>
          <a:noFill/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8800" b="1" dirty="0" smtClean="0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  <a:alpha val="6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</a:rPr>
              <a:t>K</a:t>
            </a:r>
          </a:p>
          <a:p>
            <a:r>
              <a:rPr lang="en-US" sz="8800" b="1" dirty="0" smtClean="0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  <a:alpha val="6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</a:rPr>
              <a:t>N</a:t>
            </a:r>
          </a:p>
          <a:p>
            <a:r>
              <a:rPr lang="en-US" sz="8800" b="1" dirty="0" smtClean="0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  <a:alpha val="6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</a:rPr>
              <a:t>N</a:t>
            </a:r>
          </a:p>
          <a:p>
            <a:endParaRPr lang="en-US" sz="8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07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D1CBAF"/>
          </a:solidFill>
        </p:spPr>
        <p:txBody>
          <a:bodyPr>
            <a:normAutofit/>
          </a:bodyPr>
          <a:lstStyle/>
          <a:p>
            <a:r>
              <a:rPr lang="en-US" sz="6600" b="1" dirty="0" smtClean="0">
                <a:solidFill>
                  <a:srgbClr val="CC9900"/>
                </a:solidFill>
                <a:latin typeface="Broadway" pitchFamily="82" charset="0"/>
              </a:rPr>
              <a:t>KNN</a:t>
            </a:r>
            <a:endParaRPr lang="en-US" sz="6600" b="1" dirty="0">
              <a:solidFill>
                <a:srgbClr val="CC9900"/>
              </a:solidFill>
              <a:latin typeface="Broadway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2">
                    <a:lumMod val="90000"/>
                  </a:schemeClr>
                </a:solidFill>
              </a:rPr>
              <a:t>K Nearest Neighbors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209800"/>
            <a:ext cx="4313569" cy="447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60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D1CBAF"/>
          </a:solidFill>
        </p:spPr>
        <p:txBody>
          <a:bodyPr>
            <a:normAutofit/>
          </a:bodyPr>
          <a:lstStyle/>
          <a:p>
            <a:r>
              <a:rPr lang="en-US" sz="6600" b="1" dirty="0" smtClean="0">
                <a:solidFill>
                  <a:srgbClr val="CC9900"/>
                </a:solidFill>
                <a:latin typeface="Broadway" pitchFamily="82" charset="0"/>
              </a:rPr>
              <a:t>KNN</a:t>
            </a:r>
            <a:endParaRPr lang="en-US" sz="6600" b="1" dirty="0">
              <a:solidFill>
                <a:srgbClr val="CC9900"/>
              </a:solidFill>
              <a:latin typeface="Broadway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2">
                    <a:lumMod val="90000"/>
                  </a:schemeClr>
                </a:solidFill>
              </a:rPr>
              <a:t>Ex. Find the class of the blue star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2050" name="Picture 2" descr="scenario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14600"/>
            <a:ext cx="7996651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02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D1CBAF"/>
          </a:solidFill>
        </p:spPr>
        <p:txBody>
          <a:bodyPr>
            <a:normAutofit/>
          </a:bodyPr>
          <a:lstStyle/>
          <a:p>
            <a:r>
              <a:rPr lang="en-US" sz="6600" b="1" dirty="0" smtClean="0">
                <a:solidFill>
                  <a:srgbClr val="CC9900"/>
                </a:solidFill>
                <a:latin typeface="Broadway" pitchFamily="82" charset="0"/>
              </a:rPr>
              <a:t>KNN</a:t>
            </a:r>
            <a:endParaRPr lang="en-US" sz="6600" b="1" dirty="0">
              <a:solidFill>
                <a:srgbClr val="CC9900"/>
              </a:solidFill>
              <a:latin typeface="Broadway" pitchFamily="82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2">
                    <a:lumMod val="90000"/>
                  </a:schemeClr>
                </a:solidFill>
              </a:rPr>
              <a:t>Say, we want the 3 (K = 3) nearest neighbors to be accounted for when determining class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8" name="Picture 2" descr="scenario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87" y="2872854"/>
            <a:ext cx="7996651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/>
          <p:cNvSpPr/>
          <p:nvPr/>
        </p:nvSpPr>
        <p:spPr>
          <a:xfrm>
            <a:off x="3352800" y="2819400"/>
            <a:ext cx="1828800" cy="1752600"/>
          </a:xfrm>
          <a:prstGeom prst="ellipse">
            <a:avLst/>
          </a:prstGeom>
          <a:solidFill>
            <a:srgbClr val="CC99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entagon 10"/>
          <p:cNvSpPr/>
          <p:nvPr/>
        </p:nvSpPr>
        <p:spPr>
          <a:xfrm>
            <a:off x="685800" y="4724400"/>
            <a:ext cx="2971800" cy="1447800"/>
          </a:xfrm>
          <a:prstGeom prst="homePlat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3/3 closest neighbors are Red Circles</a:t>
            </a:r>
            <a:endParaRPr lang="en-US" sz="2400" b="1" dirty="0"/>
          </a:p>
        </p:txBody>
      </p:sp>
      <p:sp>
        <p:nvSpPr>
          <p:cNvPr id="12" name="Rectangle 11"/>
          <p:cNvSpPr/>
          <p:nvPr/>
        </p:nvSpPr>
        <p:spPr>
          <a:xfrm>
            <a:off x="3886200" y="4724400"/>
            <a:ext cx="1676400" cy="14478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Blue Star is in the class of the Red Circles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165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www.analyticsvidhya.com/wp-content/uploads/2014/10/K-judgeme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516" y="-1"/>
            <a:ext cx="7560316" cy="3473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K judgement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428"/>
            <a:ext cx="7560317" cy="343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entagon 6"/>
          <p:cNvSpPr/>
          <p:nvPr/>
        </p:nvSpPr>
        <p:spPr>
          <a:xfrm rot="5400000">
            <a:off x="5626897" y="2436106"/>
            <a:ext cx="5562600" cy="995188"/>
          </a:xfrm>
          <a:prstGeom prst="homePlate">
            <a:avLst/>
          </a:prstGeom>
          <a:solidFill>
            <a:srgbClr val="FFD6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accent1"/>
                </a:solidFill>
              </a:rPr>
              <a:t>Boundary Becomes Smoother</a:t>
            </a:r>
            <a:endParaRPr lang="en-US" sz="3200" b="1" dirty="0">
              <a:solidFill>
                <a:schemeClr val="accent1"/>
              </a:solidFill>
            </a:endParaRPr>
          </a:p>
        </p:txBody>
      </p:sp>
      <p:sp>
        <p:nvSpPr>
          <p:cNvPr id="8" name="Folded Corner 7"/>
          <p:cNvSpPr/>
          <p:nvPr/>
        </p:nvSpPr>
        <p:spPr>
          <a:xfrm>
            <a:off x="7910603" y="5791200"/>
            <a:ext cx="995188" cy="990600"/>
          </a:xfrm>
          <a:prstGeom prst="foldedCorner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All Red or All Blue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67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solidFill>
            <a:srgbClr val="D1CBAF"/>
          </a:solidFill>
        </p:spPr>
        <p:txBody>
          <a:bodyPr>
            <a:normAutofit/>
          </a:bodyPr>
          <a:lstStyle/>
          <a:p>
            <a:r>
              <a:rPr lang="en-US" sz="6600" b="1" dirty="0" smtClean="0">
                <a:solidFill>
                  <a:srgbClr val="CC9900"/>
                </a:solidFill>
                <a:latin typeface="Broadway" pitchFamily="82" charset="0"/>
              </a:rPr>
              <a:t>KNN</a:t>
            </a:r>
            <a:endParaRPr lang="en-US" sz="6600" b="1" dirty="0">
              <a:solidFill>
                <a:srgbClr val="CC9900"/>
              </a:solidFill>
              <a:latin typeface="Broadway" pitchFamily="82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493837"/>
            <a:ext cx="8229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2">
                    <a:lumMod val="90000"/>
                  </a:schemeClr>
                </a:solidFill>
              </a:rPr>
              <a:t>K = # classes</a:t>
            </a:r>
          </a:p>
          <a:p>
            <a:r>
              <a:rPr lang="en-US" dirty="0" smtClean="0">
                <a:solidFill>
                  <a:schemeClr val="bg2">
                    <a:lumMod val="90000"/>
                  </a:schemeClr>
                </a:solidFill>
              </a:rPr>
              <a:t>K = 1 </a:t>
            </a:r>
            <a:r>
              <a:rPr lang="en-US" dirty="0" smtClean="0">
                <a:solidFill>
                  <a:schemeClr val="bg2">
                    <a:lumMod val="90000"/>
                  </a:schemeClr>
                </a:solidFill>
                <a:sym typeface="Wingdings" pitchFamily="2" charset="2"/>
              </a:rPr>
              <a:t> OVERFITTING</a:t>
            </a:r>
          </a:p>
          <a:p>
            <a:r>
              <a:rPr lang="en-US" dirty="0" smtClean="0">
                <a:solidFill>
                  <a:schemeClr val="bg2">
                    <a:lumMod val="90000"/>
                  </a:schemeClr>
                </a:solidFill>
                <a:sym typeface="Wingdings" pitchFamily="2" charset="2"/>
              </a:rPr>
              <a:t>K = 1000000000  UNDERFITTING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5122" name="Picture 2" descr="https://www.analyticsvidhya.com/wp-content/uploads/2014/10/training-error_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3295649"/>
            <a:ext cx="7210425" cy="356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59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77</Words>
  <Application>Microsoft Office PowerPoint</Application>
  <PresentationFormat>On-screen Show (4:3)</PresentationFormat>
  <Paragraphs>17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KNN</vt:lpstr>
      <vt:lpstr>KNN</vt:lpstr>
      <vt:lpstr>KNN</vt:lpstr>
      <vt:lpstr>PowerPoint Presentation</vt:lpstr>
      <vt:lpstr>KNN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2017-06-11T20:53:23Z</dcterms:created>
  <dcterms:modified xsi:type="dcterms:W3CDTF">2017-06-11T21:19:35Z</dcterms:modified>
</cp:coreProperties>
</file>