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57" r:id="rId4"/>
    <p:sldId id="258" r:id="rId5"/>
    <p:sldId id="260" r:id="rId6"/>
    <p:sldId id="261" r:id="rId7"/>
    <p:sldId id="259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3340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86" autoAdjust="0"/>
    <p:restoredTop sz="94660"/>
  </p:normalViewPr>
  <p:slideViewPr>
    <p:cSldViewPr>
      <p:cViewPr varScale="1">
        <p:scale>
          <a:sx n="85" d="100"/>
          <a:sy n="85" d="100"/>
        </p:scale>
        <p:origin x="-78" y="-60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F54447-2D26-4E11-B5C1-0B1598BCCF48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1CBF3-83ED-4200-BD7B-21CB9B663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848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1CBF3-83ED-4200-BD7B-21CB9B663FE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8533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1CBF3-83ED-4200-BD7B-21CB9B663FE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853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1CBF3-83ED-4200-BD7B-21CB9B663FE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853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1CBF3-83ED-4200-BD7B-21CB9B663FE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8533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1CBF3-83ED-4200-BD7B-21CB9B663FE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8533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1CBF3-83ED-4200-BD7B-21CB9B663FE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8533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1CBF3-83ED-4200-BD7B-21CB9B663FE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853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C9E6-2CEB-4FED-9A38-E1A25F190799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58B3-291B-463F-8733-FB34B58EE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404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C9E6-2CEB-4FED-9A38-E1A25F190799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58B3-291B-463F-8733-FB34B58EE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173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C9E6-2CEB-4FED-9A38-E1A25F190799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58B3-291B-463F-8733-FB34B58EE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018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C9E6-2CEB-4FED-9A38-E1A25F190799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58B3-291B-463F-8733-FB34B58EE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443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C9E6-2CEB-4FED-9A38-E1A25F190799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58B3-291B-463F-8733-FB34B58EE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517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C9E6-2CEB-4FED-9A38-E1A25F190799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58B3-291B-463F-8733-FB34B58EE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684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C9E6-2CEB-4FED-9A38-E1A25F190799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58B3-291B-463F-8733-FB34B58EE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096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C9E6-2CEB-4FED-9A38-E1A25F190799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58B3-291B-463F-8733-FB34B58EE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53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C9E6-2CEB-4FED-9A38-E1A25F190799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58B3-291B-463F-8733-FB34B58EE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425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C9E6-2CEB-4FED-9A38-E1A25F190799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58B3-291B-463F-8733-FB34B58EE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904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C9E6-2CEB-4FED-9A38-E1A25F190799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558B3-291B-463F-8733-FB34B58EE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533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9C9E6-2CEB-4FED-9A38-E1A25F190799}" type="datetimeFigureOut">
              <a:rPr lang="en-US" smtClean="0"/>
              <a:t>6/11/2017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558B3-291B-463F-8733-FB34B58EE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45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solidFill>
            <a:schemeClr val="tx1">
              <a:alpha val="50196"/>
            </a:schemeClr>
          </a:solidFill>
        </p:spPr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Support Vector Classification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Model 2, 3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8762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3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WHAT DO WE WANT?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162800"/>
            <a:ext cx="7705726" cy="2887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 descr="https://i.stack.imgur.com/r7QFy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219200"/>
            <a:ext cx="5599356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ouble Bracket 5"/>
          <p:cNvSpPr/>
          <p:nvPr/>
        </p:nvSpPr>
        <p:spPr>
          <a:xfrm>
            <a:off x="2667000" y="1676400"/>
            <a:ext cx="2057400" cy="2057400"/>
          </a:xfrm>
          <a:prstGeom prst="bracketPair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382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3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sklearn</a:t>
            </a:r>
            <a:r>
              <a:rPr lang="en-US" b="1" dirty="0" err="1" smtClean="0">
                <a:solidFill>
                  <a:schemeClr val="bg1"/>
                </a:solidFill>
              </a:rPr>
              <a:t>.</a:t>
            </a:r>
            <a:r>
              <a:rPr lang="en-US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svm</a:t>
            </a:r>
            <a:r>
              <a:rPr lang="en-US" b="1" dirty="0" err="1" smtClean="0">
                <a:solidFill>
                  <a:schemeClr val="bg1"/>
                </a:solidFill>
              </a:rPr>
              <a:t>.SVC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050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Support Vector Classifier (aka SVC)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Fit the data, returning a “best fit” </a:t>
            </a:r>
            <a:r>
              <a:rPr lang="en-US" dirty="0" err="1" smtClean="0">
                <a:solidFill>
                  <a:schemeClr val="bg1"/>
                </a:solidFill>
              </a:rPr>
              <a:t>hyperplane</a:t>
            </a:r>
            <a:r>
              <a:rPr lang="en-US" dirty="0" smtClean="0">
                <a:solidFill>
                  <a:schemeClr val="bg1"/>
                </a:solidFill>
              </a:rPr>
              <a:t> that divides/categorizes, the data.</a:t>
            </a:r>
          </a:p>
        </p:txBody>
      </p:sp>
      <p:pic>
        <p:nvPicPr>
          <p:cNvPr id="1026" name="Picture 2" descr="http://www.hyperplaneband.com/uploads/1/8/0/6/18067419/9749831.jpg?5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3200400"/>
            <a:ext cx="3505200" cy="3443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ight Arrow 3"/>
          <p:cNvSpPr/>
          <p:nvPr/>
        </p:nvSpPr>
        <p:spPr>
          <a:xfrm>
            <a:off x="1676400" y="4648200"/>
            <a:ext cx="990600" cy="609600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6" name="Right Arrow 5"/>
          <p:cNvSpPr/>
          <p:nvPr/>
        </p:nvSpPr>
        <p:spPr>
          <a:xfrm rot="20432835">
            <a:off x="6535995" y="4213780"/>
            <a:ext cx="990600" cy="609600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5" name="Vertical Scroll 4"/>
          <p:cNvSpPr/>
          <p:nvPr/>
        </p:nvSpPr>
        <p:spPr>
          <a:xfrm>
            <a:off x="228600" y="4038600"/>
            <a:ext cx="1447800" cy="1905000"/>
          </a:xfrm>
          <a:prstGeom prst="verticalScroll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 smtClean="0">
                <a:solidFill>
                  <a:schemeClr val="accent1">
                    <a:lumMod val="50000"/>
                  </a:schemeClr>
                </a:solidFill>
              </a:rPr>
              <a:t>X_test</a:t>
            </a:r>
            <a:endParaRPr 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Vertical Scroll 7"/>
          <p:cNvSpPr/>
          <p:nvPr/>
        </p:nvSpPr>
        <p:spPr>
          <a:xfrm>
            <a:off x="7570694" y="3810000"/>
            <a:ext cx="1447800" cy="939053"/>
          </a:xfrm>
          <a:prstGeom prst="verticalScroll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accent1">
                    <a:lumMod val="50000"/>
                  </a:schemeClr>
                </a:solidFill>
              </a:rPr>
              <a:t>0</a:t>
            </a:r>
          </a:p>
        </p:txBody>
      </p:sp>
      <p:sp>
        <p:nvSpPr>
          <p:cNvPr id="9" name="Vertical Scroll 8"/>
          <p:cNvSpPr/>
          <p:nvPr/>
        </p:nvSpPr>
        <p:spPr>
          <a:xfrm>
            <a:off x="7543800" y="5156947"/>
            <a:ext cx="1447800" cy="939053"/>
          </a:xfrm>
          <a:prstGeom prst="verticalScroll">
            <a:avLst/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accent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10" name="Right Arrow 9"/>
          <p:cNvSpPr/>
          <p:nvPr/>
        </p:nvSpPr>
        <p:spPr>
          <a:xfrm rot="1475101">
            <a:off x="6498186" y="5131821"/>
            <a:ext cx="990600" cy="609600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98228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3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sklearn</a:t>
            </a:r>
            <a:r>
              <a:rPr lang="en-US" b="1" dirty="0" err="1" smtClean="0">
                <a:solidFill>
                  <a:schemeClr val="bg1"/>
                </a:solidFill>
              </a:rPr>
              <a:t>.</a:t>
            </a:r>
            <a:r>
              <a:rPr lang="en-US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svm</a:t>
            </a:r>
            <a:r>
              <a:rPr lang="en-US" b="1" dirty="0" err="1" smtClean="0">
                <a:solidFill>
                  <a:schemeClr val="bg1"/>
                </a:solidFill>
              </a:rPr>
              <a:t>.SVC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3733800" cy="4800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Radial basis function as the kernel</a:t>
            </a:r>
          </a:p>
          <a:p>
            <a:pPr lvl="1"/>
            <a:r>
              <a:rPr lang="en-US" dirty="0" smtClean="0">
                <a:solidFill>
                  <a:schemeClr val="accent6"/>
                </a:solidFill>
              </a:rPr>
              <a:t>Gaussian kernel </a:t>
            </a:r>
            <a:r>
              <a:rPr lang="en-US" dirty="0" smtClean="0">
                <a:solidFill>
                  <a:schemeClr val="bg1"/>
                </a:solidFill>
              </a:rPr>
              <a:t>(aka bell-curve)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No-man’s land between different classes is created with a Gaussian function</a:t>
            </a:r>
          </a:p>
          <a:p>
            <a:pPr lvl="1"/>
            <a:r>
              <a:rPr lang="en-US" dirty="0" smtClean="0">
                <a:solidFill>
                  <a:schemeClr val="accent6"/>
                </a:solidFill>
              </a:rPr>
              <a:t>Less tunable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Basically, linear interpolation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2143730"/>
            <a:ext cx="4973666" cy="3723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0339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3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sklearn</a:t>
            </a:r>
            <a:r>
              <a:rPr lang="en-US" b="1" dirty="0" err="1" smtClean="0">
                <a:solidFill>
                  <a:schemeClr val="bg1"/>
                </a:solidFill>
              </a:rPr>
              <a:t>.</a:t>
            </a:r>
            <a:r>
              <a:rPr lang="en-US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svm</a:t>
            </a:r>
            <a:r>
              <a:rPr lang="en-US" b="1" dirty="0" err="1" smtClean="0">
                <a:solidFill>
                  <a:schemeClr val="bg1"/>
                </a:solidFill>
              </a:rPr>
              <a:t>.SVC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155" y="1600200"/>
            <a:ext cx="8540045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252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3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sklearn</a:t>
            </a:r>
            <a:r>
              <a:rPr lang="en-US" b="1" dirty="0" err="1" smtClean="0">
                <a:solidFill>
                  <a:schemeClr val="bg1"/>
                </a:solidFill>
              </a:rPr>
              <a:t>.</a:t>
            </a:r>
            <a:r>
              <a:rPr lang="en-US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svm</a:t>
            </a:r>
            <a:r>
              <a:rPr lang="en-US" b="1" dirty="0" err="1" smtClean="0">
                <a:solidFill>
                  <a:schemeClr val="bg1"/>
                </a:solidFill>
              </a:rPr>
              <a:t>.SVC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534400" cy="4800600"/>
          </a:xfrm>
        </p:spPr>
        <p:txBody>
          <a:bodyPr>
            <a:normAutofit/>
          </a:bodyPr>
          <a:lstStyle/>
          <a:p>
            <a:r>
              <a:rPr lang="en-US" sz="4400" dirty="0" smtClean="0">
                <a:solidFill>
                  <a:schemeClr val="bg1"/>
                </a:solidFill>
              </a:rPr>
              <a:t>Multi-Class Classification</a:t>
            </a:r>
          </a:p>
          <a:p>
            <a:pPr lvl="1"/>
            <a:r>
              <a:rPr lang="en-US" sz="4000" dirty="0" smtClean="0">
                <a:solidFill>
                  <a:schemeClr val="accent6"/>
                </a:solidFill>
              </a:rPr>
              <a:t>One-Against-One</a:t>
            </a:r>
          </a:p>
          <a:p>
            <a:pPr lvl="2"/>
            <a:r>
              <a:rPr lang="en-US" sz="3600" dirty="0" err="1" smtClean="0">
                <a:solidFill>
                  <a:schemeClr val="bg1"/>
                </a:solidFill>
              </a:rPr>
              <a:t>n_class</a:t>
            </a:r>
            <a:r>
              <a:rPr lang="en-US" sz="3600" dirty="0" smtClean="0">
                <a:solidFill>
                  <a:schemeClr val="bg1"/>
                </a:solidFill>
              </a:rPr>
              <a:t> = # of classes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smtClean="0">
                <a:solidFill>
                  <a:schemeClr val="bg1"/>
                </a:solidFill>
              </a:rPr>
              <a:t> </a:t>
            </a:r>
            <a:r>
              <a:rPr lang="en-US" sz="3600" dirty="0" smtClean="0">
                <a:solidFill>
                  <a:schemeClr val="bg1"/>
                </a:solidFill>
                <a:sym typeface="Wingdings" pitchFamily="2" charset="2"/>
              </a:rPr>
              <a:t> </a:t>
            </a:r>
            <a:r>
              <a:rPr lang="en-US" sz="3600" dirty="0" err="1" smtClean="0">
                <a:solidFill>
                  <a:schemeClr val="bg1"/>
                </a:solidFill>
                <a:sym typeface="Wingdings" pitchFamily="2" charset="2"/>
              </a:rPr>
              <a:t>n_class</a:t>
            </a:r>
            <a:r>
              <a:rPr lang="en-US" sz="3600" dirty="0" smtClean="0">
                <a:solidFill>
                  <a:schemeClr val="bg1"/>
                </a:solidFill>
                <a:sym typeface="Wingdings" pitchFamily="2" charset="2"/>
              </a:rPr>
              <a:t> * (n_class-1)/2 classifiers</a:t>
            </a:r>
          </a:p>
          <a:p>
            <a:pPr lvl="2"/>
            <a:r>
              <a:rPr lang="en-US" sz="3600" dirty="0" smtClean="0">
                <a:solidFill>
                  <a:schemeClr val="bg1"/>
                </a:solidFill>
                <a:sym typeface="Wingdings" pitchFamily="2" charset="2"/>
              </a:rPr>
              <a:t>Each classifier trains data from two classes</a:t>
            </a:r>
            <a:endParaRPr lang="en-US" sz="3600" dirty="0" smtClean="0">
              <a:solidFill>
                <a:schemeClr val="bg1"/>
              </a:soli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162800"/>
            <a:ext cx="7705726" cy="2887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27871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3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sklearn</a:t>
            </a:r>
            <a:r>
              <a:rPr lang="en-US" b="1" dirty="0" err="1" smtClean="0">
                <a:solidFill>
                  <a:schemeClr val="bg1"/>
                </a:solidFill>
              </a:rPr>
              <a:t>.</a:t>
            </a:r>
            <a:r>
              <a:rPr lang="en-US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svm</a:t>
            </a:r>
            <a:r>
              <a:rPr lang="en-US" b="1" dirty="0" err="1" smtClean="0">
                <a:solidFill>
                  <a:schemeClr val="bg1"/>
                </a:solidFill>
              </a:rPr>
              <a:t>.LinearSVC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534400" cy="4800600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accent6"/>
                </a:solidFill>
              </a:rPr>
              <a:t>Linear kernel</a:t>
            </a:r>
          </a:p>
          <a:p>
            <a:pPr marL="457200" lvl="1" indent="0">
              <a:buNone/>
            </a:pPr>
            <a:r>
              <a:rPr lang="en-US" sz="3600" i="1" dirty="0" smtClean="0">
                <a:solidFill>
                  <a:schemeClr val="bg1"/>
                </a:solidFill>
              </a:rPr>
              <a:t>		</a:t>
            </a:r>
            <a:r>
              <a:rPr lang="en-US" sz="4400" i="1" dirty="0" smtClean="0">
                <a:solidFill>
                  <a:schemeClr val="bg1"/>
                </a:solidFill>
              </a:rPr>
              <a:t>a</a:t>
            </a:r>
            <a:r>
              <a:rPr lang="en-US" sz="4400" dirty="0" smtClean="0">
                <a:solidFill>
                  <a:schemeClr val="bg1"/>
                </a:solidFill>
              </a:rPr>
              <a:t>=</a:t>
            </a:r>
            <a:r>
              <a:rPr lang="en-US" sz="4400" i="1" dirty="0" smtClean="0">
                <a:solidFill>
                  <a:schemeClr val="bg1"/>
                </a:solidFill>
              </a:rPr>
              <a:t>b</a:t>
            </a:r>
            <a:r>
              <a:rPr lang="en-US" sz="4400" dirty="0" smtClean="0">
                <a:solidFill>
                  <a:schemeClr val="bg1"/>
                </a:solidFill>
              </a:rPr>
              <a:t>1+</a:t>
            </a:r>
            <a:r>
              <a:rPr lang="en-US" sz="4400" i="1" dirty="0" smtClean="0">
                <a:solidFill>
                  <a:schemeClr val="bg1"/>
                </a:solidFill>
              </a:rPr>
              <a:t>b</a:t>
            </a:r>
            <a:r>
              <a:rPr lang="en-US" sz="4400" dirty="0" smtClean="0">
                <a:solidFill>
                  <a:schemeClr val="bg1"/>
                </a:solidFill>
              </a:rPr>
              <a:t>2</a:t>
            </a:r>
            <a:r>
              <a:rPr lang="en-US" sz="4400" dirty="0">
                <a:solidFill>
                  <a:schemeClr val="bg1"/>
                </a:solidFill>
              </a:rPr>
              <a:t>⋅</a:t>
            </a:r>
            <a:r>
              <a:rPr lang="en-US" sz="4400" i="1" dirty="0">
                <a:solidFill>
                  <a:schemeClr val="bg1"/>
                </a:solidFill>
              </a:rPr>
              <a:t>X</a:t>
            </a:r>
            <a:r>
              <a:rPr lang="en-US" sz="4400" dirty="0">
                <a:solidFill>
                  <a:schemeClr val="bg1"/>
                </a:solidFill>
              </a:rPr>
              <a:t>+</a:t>
            </a:r>
            <a:r>
              <a:rPr lang="en-US" sz="4400" i="1" dirty="0">
                <a:solidFill>
                  <a:schemeClr val="bg1"/>
                </a:solidFill>
              </a:rPr>
              <a:t>b</a:t>
            </a:r>
            <a:r>
              <a:rPr lang="en-US" sz="4400" dirty="0">
                <a:solidFill>
                  <a:schemeClr val="bg1"/>
                </a:solidFill>
              </a:rPr>
              <a:t>3⋅</a:t>
            </a:r>
            <a:r>
              <a:rPr lang="en-US" sz="4400" i="1" dirty="0">
                <a:solidFill>
                  <a:schemeClr val="bg1"/>
                </a:solidFill>
              </a:rPr>
              <a:t>X</a:t>
            </a:r>
            <a:r>
              <a:rPr lang="en-US" sz="4400" dirty="0">
                <a:solidFill>
                  <a:schemeClr val="bg1"/>
                </a:solidFill>
              </a:rPr>
              <a:t>2+</a:t>
            </a:r>
            <a:r>
              <a:rPr lang="en-US" sz="4400" i="1" dirty="0">
                <a:solidFill>
                  <a:schemeClr val="bg1"/>
                </a:solidFill>
              </a:rPr>
              <a:t>b</a:t>
            </a:r>
            <a:r>
              <a:rPr lang="en-US" sz="4400" dirty="0">
                <a:solidFill>
                  <a:schemeClr val="bg1"/>
                </a:solidFill>
              </a:rPr>
              <a:t>4⋅</a:t>
            </a:r>
            <a:r>
              <a:rPr lang="en-US" sz="4400" i="1" dirty="0">
                <a:solidFill>
                  <a:schemeClr val="bg1"/>
                </a:solidFill>
              </a:rPr>
              <a:t>X</a:t>
            </a:r>
            <a:r>
              <a:rPr lang="en-US" sz="4400" dirty="0">
                <a:solidFill>
                  <a:schemeClr val="bg1"/>
                </a:solidFill>
              </a:rPr>
              <a:t>3</a:t>
            </a:r>
            <a:endParaRPr lang="en-US" sz="4400" dirty="0" smtClean="0">
              <a:solidFill>
                <a:schemeClr val="bg1"/>
              </a:solidFill>
            </a:endParaRPr>
          </a:p>
          <a:p>
            <a:r>
              <a:rPr lang="en-US" sz="4000" dirty="0" smtClean="0">
                <a:solidFill>
                  <a:schemeClr val="accent6"/>
                </a:solidFill>
              </a:rPr>
              <a:t>Scales better </a:t>
            </a:r>
            <a:r>
              <a:rPr lang="en-US" sz="4000" dirty="0" smtClean="0">
                <a:solidFill>
                  <a:schemeClr val="bg1"/>
                </a:solidFill>
              </a:rPr>
              <a:t>to large numbers of samples</a:t>
            </a:r>
          </a:p>
          <a:p>
            <a:r>
              <a:rPr lang="en-US" sz="4000" dirty="0" smtClean="0">
                <a:solidFill>
                  <a:schemeClr val="bg1"/>
                </a:solidFill>
              </a:rPr>
              <a:t>Supports </a:t>
            </a:r>
            <a:r>
              <a:rPr lang="en-US" sz="4000" dirty="0" smtClean="0">
                <a:solidFill>
                  <a:schemeClr val="accent6"/>
                </a:solidFill>
              </a:rPr>
              <a:t>dense and sparse input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162800"/>
            <a:ext cx="7705726" cy="2887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8249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3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sklearn</a:t>
            </a:r>
            <a:r>
              <a:rPr lang="en-US" b="1" dirty="0" err="1" smtClean="0">
                <a:solidFill>
                  <a:schemeClr val="bg1"/>
                </a:solidFill>
              </a:rPr>
              <a:t>.</a:t>
            </a:r>
            <a:r>
              <a:rPr lang="en-US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svm</a:t>
            </a:r>
            <a:r>
              <a:rPr lang="en-US" b="1" dirty="0" err="1" smtClean="0">
                <a:solidFill>
                  <a:schemeClr val="bg1"/>
                </a:solidFill>
              </a:rPr>
              <a:t>.LinearSVC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534400" cy="4800600"/>
          </a:xfrm>
        </p:spPr>
        <p:txBody>
          <a:bodyPr>
            <a:normAutofit/>
          </a:bodyPr>
          <a:lstStyle/>
          <a:p>
            <a:r>
              <a:rPr lang="en-US" sz="4400" dirty="0" smtClean="0">
                <a:solidFill>
                  <a:schemeClr val="accent6"/>
                </a:solidFill>
              </a:rPr>
              <a:t>Multi-Class Classification</a:t>
            </a:r>
          </a:p>
          <a:p>
            <a:pPr lvl="1"/>
            <a:r>
              <a:rPr lang="en-US" sz="4000" dirty="0" smtClean="0">
                <a:solidFill>
                  <a:schemeClr val="bg1"/>
                </a:solidFill>
              </a:rPr>
              <a:t>One-</a:t>
            </a:r>
            <a:r>
              <a:rPr lang="en-US" sz="4000" dirty="0" err="1" smtClean="0">
                <a:solidFill>
                  <a:schemeClr val="bg1"/>
                </a:solidFill>
              </a:rPr>
              <a:t>Vs</a:t>
            </a:r>
            <a:r>
              <a:rPr lang="en-US" sz="4000" dirty="0" smtClean="0">
                <a:solidFill>
                  <a:schemeClr val="bg1"/>
                </a:solidFill>
              </a:rPr>
              <a:t>-the-Rest</a:t>
            </a:r>
          </a:p>
          <a:p>
            <a:pPr lvl="2"/>
            <a:r>
              <a:rPr lang="en-US" sz="3600" dirty="0" smtClean="0">
                <a:solidFill>
                  <a:schemeClr val="bg1"/>
                </a:solidFill>
              </a:rPr>
              <a:t>One classifier/class</a:t>
            </a:r>
          </a:p>
          <a:p>
            <a:pPr lvl="2"/>
            <a:r>
              <a:rPr lang="en-US" sz="3600" dirty="0" smtClean="0">
                <a:solidFill>
                  <a:schemeClr val="bg1"/>
                </a:solidFill>
              </a:rPr>
              <a:t>For each classifier, class is fitted against all other classes</a:t>
            </a:r>
          </a:p>
          <a:p>
            <a:pPr lvl="2"/>
            <a:r>
              <a:rPr lang="en-US" sz="3600" dirty="0" err="1" smtClean="0">
                <a:solidFill>
                  <a:schemeClr val="bg1"/>
                </a:solidFill>
              </a:rPr>
              <a:t>n_classes</a:t>
            </a:r>
            <a:r>
              <a:rPr lang="en-US" sz="3600" dirty="0" smtClean="0">
                <a:solidFill>
                  <a:schemeClr val="bg1"/>
                </a:solidFill>
              </a:rPr>
              <a:t> classifiers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162800"/>
            <a:ext cx="7705726" cy="2887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5555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124</Words>
  <Application>Microsoft Office PowerPoint</Application>
  <PresentationFormat>On-screen Show (4:3)</PresentationFormat>
  <Paragraphs>39</Paragraphs>
  <Slides>8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Support Vector Classification</vt:lpstr>
      <vt:lpstr>WHAT DO WE WANT?</vt:lpstr>
      <vt:lpstr>sklearn.svm.SVC</vt:lpstr>
      <vt:lpstr>sklearn.svm.SVC</vt:lpstr>
      <vt:lpstr>sklearn.svm.SVC</vt:lpstr>
      <vt:lpstr>sklearn.svm.SVC</vt:lpstr>
      <vt:lpstr>sklearn.svm.LinearSVC</vt:lpstr>
      <vt:lpstr>sklearn.svm.LinearSVC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 Vector Classification</dc:title>
  <dc:creator>Admin</dc:creator>
  <cp:lastModifiedBy>Admin</cp:lastModifiedBy>
  <cp:revision>5</cp:revision>
  <dcterms:created xsi:type="dcterms:W3CDTF">2017-06-11T20:04:42Z</dcterms:created>
  <dcterms:modified xsi:type="dcterms:W3CDTF">2017-06-11T20:51:23Z</dcterms:modified>
</cp:coreProperties>
</file>